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B3F8A"/>
          </a:solidFill>
          <a:ln w="12700">
            <a:solidFill>
              <a:srgbClr val="1B3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AGENCES FÉDÉRALES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100" kern="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LES AGENCES D'INVESTIGATION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Réglementation Aéronautique — CNAM Ingénieur2000 · Session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2423160"/>
            <a:ext cx="2011680" cy="21031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EASA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38912" y="3090672"/>
            <a:ext cx="1828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3200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 de l'UE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sécurité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33472" y="2423160"/>
            <a:ext cx="2011680" cy="21031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33472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724912" y="3090672"/>
            <a:ext cx="1828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3200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fédérale USA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19472" y="2423160"/>
            <a:ext cx="2011680" cy="210312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19472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010912" y="3090672"/>
            <a:ext cx="1828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200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d'Enquêtes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d'Analyses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05472" y="2423160"/>
            <a:ext cx="2011680" cy="2103120"/>
          </a:xfrm>
          <a:prstGeom prst="rect">
            <a:avLst/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05472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NTSB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7296912" y="3090672"/>
            <a:ext cx="1828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05472" y="3200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Transport.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188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6 · JP Partn'air × CNAM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F8A"/>
          </a:solidFill>
          <a:ln w="12700">
            <a:solidFill>
              <a:srgbClr val="1B3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UTILISÉS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804672"/>
          </a:xfrm>
          <a:prstGeom prst="rect">
            <a:avLst/>
          </a:prstGeom>
          <a:solidFill>
            <a:srgbClr val="0D1F3C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109728" cy="8046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DE PRESSE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2161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Comment fonctionne le BEA 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721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Figaro — Source journalistique de référence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47672"/>
            <a:ext cx="8503920" cy="804672"/>
          </a:xfrm>
          <a:prstGeom prst="rect">
            <a:avLst/>
          </a:prstGeom>
          <a:solidFill>
            <a:srgbClr val="0D1F3C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47672"/>
            <a:ext cx="109728" cy="8046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208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OFFICIEL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20370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bea.aero — Bureau d'Enquêtes et d'Analyses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45973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Rapports, missions, procédures officielles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35224"/>
            <a:ext cx="8503920" cy="804672"/>
          </a:xfrm>
          <a:prstGeom prst="rect">
            <a:avLst/>
          </a:prstGeom>
          <a:solidFill>
            <a:srgbClr val="0D1F3C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35224"/>
            <a:ext cx="109728" cy="80467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083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INTERNATIONALE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319125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OACI — Annexe 13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44728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Enquêtes sur accidents et incidents d'aviation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922776"/>
            <a:ext cx="8503920" cy="804672"/>
          </a:xfrm>
          <a:prstGeom prst="rect">
            <a:avLst/>
          </a:prstGeom>
          <a:solidFill>
            <a:srgbClr val="0D1F3C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922776"/>
            <a:ext cx="109728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959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RÉGLEMENTAIRES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41788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Règlements EASA &amp; FAA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 officiels de certification et de surveillance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F8A"/>
          </a:solidFill>
          <a:ln w="12700">
            <a:solidFill>
              <a:srgbClr val="1B3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RÔLE DES AGENCES FÉDÉRALES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3977640"/>
          </a:xfrm>
          <a:prstGeom prst="rect">
            <a:avLst/>
          </a:prstGeom>
          <a:solidFill>
            <a:srgbClr val="0D1F3C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420624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Union Aviation Safety Agency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Fondée en 2002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3749040" cy="274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30552"/>
            <a:ext cx="37490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communes pour tous les États membres de l'UE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des aéronefs &amp; équipements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de la sécurité aérienne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Délivrance des licences de navigabilité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Harmonisation réglementaire européenne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206240" cy="3977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914400"/>
            <a:ext cx="420624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241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3776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Aviation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Fondée en 1958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2057400"/>
            <a:ext cx="3749040" cy="274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130552"/>
            <a:ext cx="37490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 du trafic aérien américain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des aéronefs &amp; pilotes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aérien (ATC) nationwide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Normes de sécurité &amp; enquêtes incidents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de l'aviation civile aux USA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36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ENJEUX COMMUNS : Sécurité des vols · Harmonisation internationale · Innovation (drones, new space)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RÔLE DES AGENCES D'INVESTIGATION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457200"/>
          </a:xfrm>
          <a:prstGeom prst="rect">
            <a:avLst/>
          </a:prstGeom>
          <a:solidFill>
            <a:srgbClr val="0D1F3C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3268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Mission : PRÉVENTION — pas sanction · Indépendance totale des enquêtes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4206240" cy="3017520"/>
          </a:xfrm>
          <a:prstGeom prst="rect">
            <a:avLst/>
          </a:prstGeom>
          <a:solidFill>
            <a:srgbClr val="0D1F3C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44752"/>
            <a:ext cx="4206240" cy="7315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36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d'Enquêtes et d'Analyses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France — fondé en 1946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450592"/>
            <a:ext cx="3749040" cy="2743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23744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Enquêtes accidents / incidents civils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 : ne juge pas, ne sanctionne pas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Coopération OACI &amp; États tiers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publics &amp; recommandations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AF447 Rio-Paris (2009)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44752"/>
            <a:ext cx="4206240" cy="3017520"/>
          </a:xfrm>
          <a:prstGeom prst="rect">
            <a:avLst/>
          </a:prstGeom>
          <a:solidFill>
            <a:srgbClr val="0D1F3C"/>
          </a:solidFill>
          <a:ln w="12700">
            <a:solidFill>
              <a:srgbClr val="BA4A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444752"/>
            <a:ext cx="4206240" cy="73152"/>
          </a:xfrm>
          <a:prstGeom prst="rect">
            <a:avLst/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536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NTSB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37760" y="1965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Transportation Safety Board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194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USA — fondé en 1967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37760" y="2450592"/>
            <a:ext cx="3749040" cy="27432"/>
          </a:xfrm>
          <a:prstGeom prst="rect">
            <a:avLst/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523744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Enquêtes multimodales (air, rail, route, mer)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 du gouvernement fédéral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Wanted List des recommandations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avec FAA &amp; agences étrangères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crash TWA 800 (1996)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0D1F3C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2686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Amélioration sécurité</a:t>
            </a:r>
            <a:pPr algn="ctr" indent="0" marL="0">
              <a:buNone/>
            </a:pPr>
            <a:r>
              <a:rPr lang="en-US" sz="11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Transparence</a:t>
            </a:r>
            <a:pPr algn="ctr" indent="0" marL="0">
              <a:buNone/>
            </a:pPr>
            <a:r>
              <a:rPr lang="en-US" sz="11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Coopération internationale (OACI)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DÉROULEMENT D'UNE ENQUÊTE BEA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92608" y="932688"/>
            <a:ext cx="2743200" cy="1737360"/>
          </a:xfrm>
          <a:prstGeom prst="rect">
            <a:avLst/>
          </a:prstGeom>
          <a:solidFill>
            <a:srgbClr val="0D1F3C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42416"/>
            <a:ext cx="457200" cy="45720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10698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" y="1554480"/>
            <a:ext cx="2468880" cy="274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6459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signalé au BEA par autorités compétentes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32688"/>
            <a:ext cx="2743200" cy="1737360"/>
          </a:xfrm>
          <a:prstGeom prst="rect">
            <a:avLst/>
          </a:prstGeom>
          <a:solidFill>
            <a:srgbClr val="0D1F3C"/>
          </a:solidFill>
          <a:ln w="12700">
            <a:solidFill>
              <a:srgbClr val="5DAD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42416"/>
            <a:ext cx="457200" cy="457200"/>
          </a:xfrm>
          <a:prstGeom prst="ellips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10698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Enquêteur désigné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554480"/>
            <a:ext cx="2468880" cy="2743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6459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 de l'Enquêteur Désigné (ED) responsable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08192" y="932688"/>
            <a:ext cx="2743200" cy="1737360"/>
          </a:xfrm>
          <a:prstGeom prst="rect">
            <a:avLst/>
          </a:prstGeom>
          <a:solidFill>
            <a:srgbClr val="0D1F3C"/>
          </a:solidFill>
          <a:ln w="12700">
            <a:solidFill>
              <a:srgbClr val="48C9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1042416"/>
            <a:ext cx="457200" cy="457200"/>
          </a:xfrm>
          <a:prstGeom prst="ellipse">
            <a:avLst/>
          </a:prstGeom>
          <a:solidFill>
            <a:srgbClr val="48C9B0"/>
          </a:solidFill>
          <a:ln w="12700">
            <a:solidFill>
              <a:srgbClr val="48C9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48272" y="10698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données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45352" y="1554480"/>
            <a:ext cx="2468880" cy="27432"/>
          </a:xfrm>
          <a:prstGeom prst="rect">
            <a:avLst/>
          </a:prstGeom>
          <a:solidFill>
            <a:srgbClr val="48C9B0"/>
          </a:solidFill>
          <a:ln w="12700">
            <a:solidFill>
              <a:srgbClr val="48C9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16459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Boîtes noires · débris · témoignages · enregistrements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" y="2926080"/>
            <a:ext cx="2743200" cy="1737360"/>
          </a:xfrm>
          <a:prstGeom prst="rect">
            <a:avLst/>
          </a:prstGeom>
          <a:solidFill>
            <a:srgbClr val="0D1F3C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3035808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" y="3063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9768" y="3547872"/>
            <a:ext cx="2468880" cy="274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63931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humains · techniques · environnementaux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2743200" cy="1737360"/>
          </a:xfrm>
          <a:prstGeom prst="rect">
            <a:avLst/>
          </a:prstGeom>
          <a:solidFill>
            <a:srgbClr val="0D1F3C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3035808"/>
            <a:ext cx="457200" cy="45720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40480" y="3063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Coopération OACI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337560" y="3547872"/>
            <a:ext cx="246888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63931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États concernés invités — échanges internationaux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08192" y="2926080"/>
            <a:ext cx="2743200" cy="1737360"/>
          </a:xfrm>
          <a:prstGeom prst="rect">
            <a:avLst/>
          </a:prstGeom>
          <a:solidFill>
            <a:srgbClr val="0D1F3C"/>
          </a:solidFill>
          <a:ln w="12700">
            <a:solidFill>
              <a:srgbClr val="BA4A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99632" y="3035808"/>
            <a:ext cx="457200" cy="457200"/>
          </a:xfrm>
          <a:prstGeom prst="ellipse">
            <a:avLst/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48272" y="3063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final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45352" y="3547872"/>
            <a:ext cx="2468880" cy="27432"/>
          </a:xfrm>
          <a:prstGeom prst="rect">
            <a:avLst/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45352" y="363931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probables · recommandations de sécurité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0" y="4773168"/>
            <a:ext cx="274320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4791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Durée moyenne : ~2 ans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Agences Fédérales et Agences d'Investigation en Aéronautique</dc:title>
  <dc:subject>PptxGenJS Presentation</dc:subject>
  <dc:creator>PptxGenJS</dc:creator>
  <cp:lastModifiedBy>PptxGenJS</cp:lastModifiedBy>
  <cp:revision>1</cp:revision>
  <dcterms:created xsi:type="dcterms:W3CDTF">2026-03-27T13:28:38Z</dcterms:created>
  <dcterms:modified xsi:type="dcterms:W3CDTF">2026-03-27T13:28:38Z</dcterms:modified>
</cp:coreProperties>
</file>